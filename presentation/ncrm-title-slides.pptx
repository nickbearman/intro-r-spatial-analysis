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sldIdLst>
    <p:sldId id="256" r:id="rId4"/>
    <p:sldId id="257" r:id="rId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jpe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Relationship Id="rId3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51960" cy="33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45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3240" y="4314960"/>
            <a:ext cx="11451960" cy="189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7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363240" y="2506320"/>
            <a:ext cx="11464920" cy="371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7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63240" y="2178720"/>
            <a:ext cx="5618160" cy="40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197400" y="2178720"/>
            <a:ext cx="5630760" cy="40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360000" y="2178720"/>
            <a:ext cx="5611680" cy="68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360000" y="3002760"/>
            <a:ext cx="5611680" cy="322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197400" y="2178720"/>
            <a:ext cx="5634000" cy="68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197400" y="3002760"/>
            <a:ext cx="5634000" cy="322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7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7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2" hidden="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Rectangle 3"/>
          <p:cNvSpPr/>
          <p:nvPr/>
        </p:nvSpPr>
        <p:spPr>
          <a:xfrm>
            <a:off x="0" y="1267200"/>
            <a:ext cx="12191400" cy="48380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63240" y="1564560"/>
            <a:ext cx="11464920" cy="229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4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Picture 10"/>
          <p:cNvPicPr/>
          <p:nvPr/>
        </p:nvPicPr>
        <p:blipFill>
          <a:blip r:embed="rId3"/>
          <a:stretch/>
        </p:blipFill>
        <p:spPr>
          <a:xfrm>
            <a:off x="363240" y="388440"/>
            <a:ext cx="5172120" cy="47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Picture 6" descr="R:\CENTRES\NCRM\Publicity\Logos\University of Southampton\university logo copy.jpg"/>
          <p:cNvPicPr/>
          <p:nvPr/>
        </p:nvPicPr>
        <p:blipFill>
          <a:blip r:embed="rId4"/>
          <a:stretch/>
        </p:blipFill>
        <p:spPr>
          <a:xfrm>
            <a:off x="4564080" y="6297480"/>
            <a:ext cx="1943640" cy="42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7" descr="R:\CENTRES\NCRM\Publicity\Logos\Other\TAB_col_white_background.png"/>
          <p:cNvPicPr/>
          <p:nvPr/>
        </p:nvPicPr>
        <p:blipFill>
          <a:blip r:embed="rId5"/>
          <a:stretch/>
        </p:blipFill>
        <p:spPr>
          <a:xfrm>
            <a:off x="7344360" y="6249600"/>
            <a:ext cx="1181160" cy="50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8" descr="R:\CENTRES\NCRM\Publicity\Logos\Other\298px-University_of_Edinburgh_logo.svg.png"/>
          <p:cNvPicPr/>
          <p:nvPr/>
        </p:nvPicPr>
        <p:blipFill>
          <a:blip r:embed="rId6"/>
          <a:stretch/>
        </p:blipFill>
        <p:spPr>
          <a:xfrm>
            <a:off x="9362520" y="6224400"/>
            <a:ext cx="503280" cy="50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Picture 4" descr="A picture containing drawing&#10;&#10;Description automatically generated"/>
          <p:cNvPicPr/>
          <p:nvPr/>
        </p:nvPicPr>
        <p:blipFill>
          <a:blip r:embed="rId7"/>
          <a:stretch/>
        </p:blipFill>
        <p:spPr>
          <a:xfrm>
            <a:off x="1874520" y="6252480"/>
            <a:ext cx="1852200" cy="466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4408200" cy="104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4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5183280" y="967680"/>
            <a:ext cx="6644880" cy="518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545860"/>
              </a:buClr>
              <a:buFont typeface="Arial"/>
              <a:buChar char="•"/>
            </a:pPr>
            <a:r>
              <a:rPr lang="en-GB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63240" y="2146320"/>
            <a:ext cx="4408200" cy="40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body"/>
          </p:nvPr>
        </p:nvSpPr>
        <p:spPr>
          <a:xfrm>
            <a:off x="5183280" y="967680"/>
            <a:ext cx="6644880" cy="518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lvl="1" indent="-324000" defTabSz="6858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2" indent="-288000" defTabSz="6858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28520" lvl="3" indent="-216000" defTabSz="6858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4" indent="-216000" defTabSz="6858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320" lvl="5" indent="-216000" defTabSz="6858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6" indent="-216000" defTabSz="6858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title"/>
          </p:nvPr>
        </p:nvSpPr>
        <p:spPr>
          <a:xfrm>
            <a:off x="363240" y="967680"/>
            <a:ext cx="4408200" cy="104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4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63240" y="2146320"/>
            <a:ext cx="4408200" cy="40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12" hidden="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Rectangle 3"/>
          <p:cNvSpPr/>
          <p:nvPr/>
        </p:nvSpPr>
        <p:spPr>
          <a:xfrm>
            <a:off x="0" y="1267200"/>
            <a:ext cx="12191400" cy="48380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9" name="Picture 10"/>
          <p:cNvPicPr/>
          <p:nvPr/>
        </p:nvPicPr>
        <p:blipFill>
          <a:blip r:embed="rId3"/>
          <a:stretch/>
        </p:blipFill>
        <p:spPr>
          <a:xfrm>
            <a:off x="363240" y="388440"/>
            <a:ext cx="5172120" cy="47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Picture 6" descr="R:\CENTRES\NCRM\Publicity\Logos\University of Southampton\university logo copy.jpg"/>
          <p:cNvPicPr/>
          <p:nvPr/>
        </p:nvPicPr>
        <p:blipFill>
          <a:blip r:embed="rId4"/>
          <a:stretch/>
        </p:blipFill>
        <p:spPr>
          <a:xfrm>
            <a:off x="4564080" y="6297480"/>
            <a:ext cx="1943640" cy="42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Picture 7" descr="R:\CENTRES\NCRM\Publicity\Logos\Other\TAB_col_white_background.png"/>
          <p:cNvPicPr/>
          <p:nvPr/>
        </p:nvPicPr>
        <p:blipFill>
          <a:blip r:embed="rId5"/>
          <a:stretch/>
        </p:blipFill>
        <p:spPr>
          <a:xfrm>
            <a:off x="7344360" y="6249600"/>
            <a:ext cx="1181160" cy="50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Picture 8" descr="R:\CENTRES\NCRM\Publicity\Logos\Other\298px-University_of_Edinburgh_logo.svg.png"/>
          <p:cNvPicPr/>
          <p:nvPr/>
        </p:nvPicPr>
        <p:blipFill>
          <a:blip r:embed="rId6"/>
          <a:stretch/>
        </p:blipFill>
        <p:spPr>
          <a:xfrm>
            <a:off x="9362520" y="6224400"/>
            <a:ext cx="503280" cy="50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" name="Picture 4" descr="A picture containing drawing&#10;&#10;Description automatically generated"/>
          <p:cNvPicPr/>
          <p:nvPr/>
        </p:nvPicPr>
        <p:blipFill>
          <a:blip r:embed="rId7"/>
          <a:stretch/>
        </p:blipFill>
        <p:spPr>
          <a:xfrm>
            <a:off x="1874520" y="6252480"/>
            <a:ext cx="1852200" cy="466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12" hidden="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Rectangle 3"/>
          <p:cNvSpPr/>
          <p:nvPr/>
        </p:nvSpPr>
        <p:spPr>
          <a:xfrm>
            <a:off x="0" y="1267200"/>
            <a:ext cx="12191400" cy="48380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63240" y="1564560"/>
            <a:ext cx="11464920" cy="229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4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5"/>
          <p:cNvPicPr/>
          <p:nvPr/>
        </p:nvPicPr>
        <p:blipFill>
          <a:blip r:embed="rId3"/>
          <a:stretch/>
        </p:blipFill>
        <p:spPr>
          <a:xfrm>
            <a:off x="363240" y="388440"/>
            <a:ext cx="5172120" cy="47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Picture 7" descr="R:\CENTRES\NCRM\Publicity\Logos\University of Southampton\university logo copy.jpg"/>
          <p:cNvPicPr/>
          <p:nvPr/>
        </p:nvPicPr>
        <p:blipFill>
          <a:blip r:embed="rId4"/>
          <a:stretch/>
        </p:blipFill>
        <p:spPr>
          <a:xfrm>
            <a:off x="4564080" y="6297480"/>
            <a:ext cx="1943640" cy="42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" name="Picture 7" descr="R:\CENTRES\NCRM\Publicity\Logos\Other\TAB_col_white_background.png"/>
          <p:cNvPicPr/>
          <p:nvPr/>
        </p:nvPicPr>
        <p:blipFill>
          <a:blip r:embed="rId5"/>
          <a:stretch/>
        </p:blipFill>
        <p:spPr>
          <a:xfrm>
            <a:off x="7344360" y="6249600"/>
            <a:ext cx="1181160" cy="5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GB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12" hidden="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Rectangle 3"/>
          <p:cNvSpPr/>
          <p:nvPr/>
        </p:nvSpPr>
        <p:spPr>
          <a:xfrm>
            <a:off x="0" y="1267200"/>
            <a:ext cx="12191400" cy="48380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3240" y="1564560"/>
            <a:ext cx="11464920" cy="229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4500" b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Picture 10"/>
          <p:cNvPicPr/>
          <p:nvPr/>
        </p:nvPicPr>
        <p:blipFill>
          <a:blip r:embed="rId3"/>
          <a:stretch/>
        </p:blipFill>
        <p:spPr>
          <a:xfrm>
            <a:off x="363240" y="388440"/>
            <a:ext cx="5172120" cy="47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" name="Picture 6" descr="R:\CENTRES\NCRM\Publicity\Logos\University of Southampton\university logo copy.jpg"/>
          <p:cNvPicPr/>
          <p:nvPr/>
        </p:nvPicPr>
        <p:blipFill>
          <a:blip r:embed="rId4"/>
          <a:stretch/>
        </p:blipFill>
        <p:spPr>
          <a:xfrm>
            <a:off x="4564080" y="6297480"/>
            <a:ext cx="1943640" cy="42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" name="Picture 7" descr="R:\CENTRES\NCRM\Publicity\Logos\Other\TAB_col_white_background.png"/>
          <p:cNvPicPr/>
          <p:nvPr/>
        </p:nvPicPr>
        <p:blipFill>
          <a:blip r:embed="rId5"/>
          <a:stretch/>
        </p:blipFill>
        <p:spPr>
          <a:xfrm>
            <a:off x="7344360" y="6249600"/>
            <a:ext cx="1181160" cy="50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" name="Picture 8" descr="R:\CENTRES\NCRM\Publicity\Logos\Other\298px-University_of_Edinburgh_logo.svg.png"/>
          <p:cNvPicPr/>
          <p:nvPr/>
        </p:nvPicPr>
        <p:blipFill>
          <a:blip r:embed="rId6"/>
          <a:stretch/>
        </p:blipFill>
        <p:spPr>
          <a:xfrm>
            <a:off x="9362520" y="6224400"/>
            <a:ext cx="503280" cy="50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" name="Picture 4" descr="A picture containing drawing&#10;&#10;Description automatically generated"/>
          <p:cNvPicPr/>
          <p:nvPr/>
        </p:nvPicPr>
        <p:blipFill>
          <a:blip r:embed="rId7"/>
          <a:stretch/>
        </p:blipFill>
        <p:spPr>
          <a:xfrm>
            <a:off x="1874520" y="6252480"/>
            <a:ext cx="1852200" cy="466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2" hidden="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ectangle 3"/>
          <p:cNvSpPr/>
          <p:nvPr/>
        </p:nvSpPr>
        <p:spPr>
          <a:xfrm>
            <a:off x="0" y="1267200"/>
            <a:ext cx="12191400" cy="483804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GB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63240" y="1564560"/>
            <a:ext cx="11464920" cy="229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45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10"/>
          <p:cNvPicPr/>
          <p:nvPr/>
        </p:nvPicPr>
        <p:blipFill>
          <a:blip r:embed="rId3"/>
          <a:stretch/>
        </p:blipFill>
        <p:spPr>
          <a:xfrm>
            <a:off x="363240" y="388440"/>
            <a:ext cx="5172120" cy="47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Picture 6" descr="R:\CENTRES\NCRM\Publicity\Logos\University of Southampton\university logo copy.jpg"/>
          <p:cNvPicPr/>
          <p:nvPr/>
        </p:nvPicPr>
        <p:blipFill>
          <a:blip r:embed="rId4"/>
          <a:stretch/>
        </p:blipFill>
        <p:spPr>
          <a:xfrm>
            <a:off x="4564080" y="6297480"/>
            <a:ext cx="1943640" cy="42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Picture 7" descr="R:\CENTRES\NCRM\Publicity\Logos\Other\TAB_col_white_background.png"/>
          <p:cNvPicPr/>
          <p:nvPr/>
        </p:nvPicPr>
        <p:blipFill>
          <a:blip r:embed="rId5"/>
          <a:stretch/>
        </p:blipFill>
        <p:spPr>
          <a:xfrm>
            <a:off x="7344360" y="6249600"/>
            <a:ext cx="1181160" cy="50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" name="Picture 8" descr="R:\CENTRES\NCRM\Publicity\Logos\Other\298px-University_of_Edinburgh_logo.svg.png"/>
          <p:cNvPicPr/>
          <p:nvPr/>
        </p:nvPicPr>
        <p:blipFill>
          <a:blip r:embed="rId6"/>
          <a:stretch/>
        </p:blipFill>
        <p:spPr>
          <a:xfrm>
            <a:off x="9362520" y="6224400"/>
            <a:ext cx="503280" cy="50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Picture 4" descr="A picture containing drawing&#10;&#10;Description automatically generated"/>
          <p:cNvPicPr/>
          <p:nvPr/>
        </p:nvPicPr>
        <p:blipFill>
          <a:blip r:embed="rId7"/>
          <a:stretch/>
        </p:blipFill>
        <p:spPr>
          <a:xfrm>
            <a:off x="1874520" y="6252480"/>
            <a:ext cx="1852200" cy="466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/>
          </p:nvPr>
        </p:nvSpPr>
        <p:spPr>
          <a:xfrm>
            <a:off x="5183280" y="967680"/>
            <a:ext cx="6644880" cy="518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8288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363240" y="967680"/>
            <a:ext cx="4408200" cy="104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2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63240" y="2146320"/>
            <a:ext cx="4408200" cy="40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1" hidden="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Picture 12" hidden="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0" y="1267200"/>
            <a:ext cx="12191400" cy="483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63240" y="1564560"/>
            <a:ext cx="11464920" cy="2293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6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10"/>
          <p:cNvPicPr/>
          <p:nvPr/>
        </p:nvPicPr>
        <p:blipFill>
          <a:blip r:embed="rId5"/>
          <a:stretch/>
        </p:blipFill>
        <p:spPr>
          <a:xfrm>
            <a:off x="363240" y="388440"/>
            <a:ext cx="5172120" cy="47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6" descr="R:\CENTRES\NCRM\Publicity\Logos\University of Southampton\university logo copy.jpg"/>
          <p:cNvPicPr/>
          <p:nvPr/>
        </p:nvPicPr>
        <p:blipFill>
          <a:blip r:embed="rId6"/>
          <a:stretch/>
        </p:blipFill>
        <p:spPr>
          <a:xfrm>
            <a:off x="4564080" y="6297480"/>
            <a:ext cx="1943640" cy="42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Picture 7" descr="R:\CENTRES\NCRM\Publicity\Logos\Other\TAB_col_white_background.png"/>
          <p:cNvPicPr/>
          <p:nvPr/>
        </p:nvPicPr>
        <p:blipFill>
          <a:blip r:embed="rId7"/>
          <a:stretch/>
        </p:blipFill>
        <p:spPr>
          <a:xfrm>
            <a:off x="7344360" y="6249600"/>
            <a:ext cx="1181160" cy="50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Picture 8" descr="R:\CENTRES\NCRM\Publicity\Logos\Other\298px-University_of_Edinburgh_logo.svg.png"/>
          <p:cNvPicPr/>
          <p:nvPr/>
        </p:nvPicPr>
        <p:blipFill>
          <a:blip r:embed="rId8"/>
          <a:stretch/>
        </p:blipFill>
        <p:spPr>
          <a:xfrm>
            <a:off x="9362520" y="6224400"/>
            <a:ext cx="503280" cy="50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Picture 4" descr="A picture containing drawing&#10;&#10;Description automatically generated"/>
          <p:cNvPicPr/>
          <p:nvPr/>
        </p:nvPicPr>
        <p:blipFill>
          <a:blip r:embed="rId9"/>
          <a:stretch/>
        </p:blipFill>
        <p:spPr>
          <a:xfrm>
            <a:off x="1874520" y="6252480"/>
            <a:ext cx="1852200" cy="4662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51960" cy="331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60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363240" y="4314960"/>
            <a:ext cx="11451960" cy="189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6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363240" y="2506320"/>
            <a:ext cx="11464920" cy="371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6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363240" y="2178720"/>
            <a:ext cx="5618160" cy="40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6197400" y="2178720"/>
            <a:ext cx="5630760" cy="404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PlaceHolder 1"/>
          <p:cNvSpPr>
            <a:spLocks noGrp="1"/>
          </p:cNvSpPr>
          <p:nvPr>
            <p:ph type="body"/>
          </p:nvPr>
        </p:nvSpPr>
        <p:spPr>
          <a:xfrm>
            <a:off x="360000" y="2178720"/>
            <a:ext cx="5611680" cy="68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360000" y="3002760"/>
            <a:ext cx="5611680" cy="322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6197400" y="2178720"/>
            <a:ext cx="5634000" cy="685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2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6197400" y="3002760"/>
            <a:ext cx="5634000" cy="322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  <a:tabLst>
                <a:tab algn="l" pos="0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6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6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11"/>
          <p:cNvPicPr/>
          <p:nvPr/>
        </p:nvPicPr>
        <p:blipFill>
          <a:blip r:embed="rId2"/>
          <a:stretch/>
        </p:blipFill>
        <p:spPr>
          <a:xfrm>
            <a:off x="363240" y="388440"/>
            <a:ext cx="3598560" cy="33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Pictur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0" y="6469560"/>
            <a:ext cx="12191400" cy="38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4408200" cy="104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2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5183280" y="967680"/>
            <a:ext cx="6644880" cy="518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45860"/>
              </a:buClr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545860"/>
              </a:buClr>
              <a:buFont typeface="Arial"/>
              <a:buChar char="•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363240" y="2146320"/>
            <a:ext cx="4408200" cy="40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796400" y="4786200"/>
            <a:ext cx="8598240" cy="71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30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comprehensive training in research methods</a:t>
            </a:r>
            <a:endParaRPr lang="en-GB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ubTitle"/>
          </p:nvPr>
        </p:nvSpPr>
        <p:spPr>
          <a:xfrm>
            <a:off x="1796400" y="5497920"/>
            <a:ext cx="8598240" cy="4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www.ncrm.ac.uk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itle 1"/>
          <p:cNvSpPr/>
          <p:nvPr/>
        </p:nvSpPr>
        <p:spPr>
          <a:xfrm>
            <a:off x="1796400" y="1544040"/>
            <a:ext cx="859824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rmAutofit/>
          </a:bodyPr>
          <a:p>
            <a:pPr algn="ctr" defTabSz="685800">
              <a:lnSpc>
                <a:spcPct val="9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Introduction to Spatial Data &amp; </a:t>
            </a:r>
            <a:br>
              <a:rPr sz="3600"/>
            </a:br>
            <a:r>
              <a:rPr lang="en-US" sz="3600" b="1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Using R as a GIS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1"/>
          <p:cNvSpPr/>
          <p:nvPr/>
        </p:nvSpPr>
        <p:spPr>
          <a:xfrm>
            <a:off x="6402600" y="3248280"/>
            <a:ext cx="228240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Dr Nick Bearman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Line 3"/>
          <p:cNvSpPr/>
          <p:nvPr/>
        </p:nvSpPr>
        <p:spPr>
          <a:xfrm flipH="1">
            <a:off x="6197400" y="3242520"/>
            <a:ext cx="1440" cy="792000"/>
          </a:xfrm>
          <a:prstGeom prst="line">
            <a:avLst/>
          </a:prstGeom>
          <a:ln w="3492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GB" sz="1800" b="0" u="none" strike="noStrike">
              <a:solidFill>
                <a:srgbClr val="545860"/>
              </a:solidFill>
              <a:effectLst/>
              <a:uFillTx/>
              <a:latin typeface="Arial"/>
            </a:endParaRPr>
          </a:p>
        </p:txBody>
      </p:sp>
      <p:sp>
        <p:nvSpPr>
          <p:cNvPr id="116" name="CustomShape 5"/>
          <p:cNvSpPr/>
          <p:nvPr/>
        </p:nvSpPr>
        <p:spPr>
          <a:xfrm>
            <a:off x="6375960" y="3612960"/>
            <a:ext cx="2383200" cy="45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GB" sz="2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@nickbearmanuk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4"/>
          <p:cNvSpPr/>
          <p:nvPr/>
        </p:nvSpPr>
        <p:spPr>
          <a:xfrm>
            <a:off x="519480" y="3293640"/>
            <a:ext cx="55756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GB" sz="24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Tue 28</a:t>
            </a:r>
            <a:r>
              <a:rPr lang="en-GB" sz="2400" b="0" u="none" strike="noStrike" baseline="30000">
                <a:solidFill>
                  <a:srgbClr val="f2f2f2"/>
                </a:solidFill>
                <a:effectLst/>
                <a:uFillTx/>
                <a:latin typeface="Calibri"/>
              </a:rPr>
              <a:t>th</a:t>
            </a:r>
            <a:r>
              <a:rPr lang="en-GB" sz="24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and Wed 29</a:t>
            </a:r>
            <a:r>
              <a:rPr lang="en-GB" sz="2400" b="0" u="none" strike="noStrike" baseline="30000">
                <a:solidFill>
                  <a:srgbClr val="f2f2f2"/>
                </a:solidFill>
                <a:effectLst/>
                <a:uFillTx/>
                <a:latin typeface="Calibri"/>
              </a:rPr>
              <a:t>th</a:t>
            </a:r>
            <a:r>
              <a:rPr lang="en-GB" sz="24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April  2026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GB" sz="2400" b="0" u="none" strike="noStrike">
                <a:solidFill>
                  <a:srgbClr val="f2f2f2"/>
                </a:solidFill>
                <a:effectLst/>
                <a:uFillTx/>
                <a:latin typeface="Calibri"/>
                <a:ea typeface="DejaVu Sans"/>
              </a:rPr>
              <a:t>10am – 1pm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13"/>
          <p:cNvPicPr/>
          <p:nvPr/>
        </p:nvPicPr>
        <p:blipFill>
          <a:blip r:embed="rId1"/>
          <a:stretch/>
        </p:blipFill>
        <p:spPr>
          <a:xfrm>
            <a:off x="10789200" y="131400"/>
            <a:ext cx="1221120" cy="10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363240" y="967680"/>
            <a:ext cx="11464920" cy="97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chemeClr val="accent2"/>
                </a:solidFill>
                <a:effectLst/>
                <a:uFillTx/>
                <a:latin typeface="Arial"/>
              </a:rPr>
              <a:t>Welcome</a:t>
            </a:r>
            <a:endParaRPr lang="en-GB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231120" y="1940760"/>
            <a:ext cx="7522560" cy="428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Please note this lecture is being recorded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If you ask a question or make a comment, your voice/chat may appear on the recording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54586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Please ask me to pause the recording if you do not want your question or comment recorded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Content Placeholder 10" descr="Icon&#10;&#10;Description automatically generated"/>
          <p:cNvPicPr/>
          <p:nvPr/>
        </p:nvPicPr>
        <p:blipFill>
          <a:blip r:embed="rId1"/>
          <a:stretch/>
        </p:blipFill>
        <p:spPr>
          <a:xfrm>
            <a:off x="7673760" y="1603080"/>
            <a:ext cx="4286520" cy="4286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6_Office Theme">
  <a:themeElements>
    <a:clrScheme name="NCRM">
      <a:dk1>
        <a:srgbClr val="545860"/>
      </a:dk1>
      <a:lt1>
        <a:srgbClr val="ffffff"/>
      </a:lt1>
      <a:dk2>
        <a:srgbClr val="545860"/>
      </a:dk2>
      <a:lt2>
        <a:srgbClr val="e7e6e6"/>
      </a:lt2>
      <a:accent1>
        <a:srgbClr val="5bc3f5"/>
      </a:accent1>
      <a:accent2>
        <a:srgbClr val="3a5cb7"/>
      </a:accent2>
      <a:accent3>
        <a:srgbClr val="ffb653"/>
      </a:accent3>
      <a:accent4>
        <a:srgbClr val="e56b59"/>
      </a:accent4>
      <a:accent5>
        <a:srgbClr val="545860"/>
      </a:accent5>
      <a:accent6>
        <a:srgbClr val="e7e6e6"/>
      </a:accent6>
      <a:hlink>
        <a:srgbClr val="3a5cb7"/>
      </a:hlink>
      <a:folHlink>
        <a:srgbClr val="e56b59"/>
      </a:folHlink>
    </a:clrScheme>
    <a:fontScheme name="Arial">
      <a:majorFont>
        <a:latin typeface="Arial" panose="020B0604020202020204" pitchFamily="0" charset="1"/>
        <a:ea typeface=""/>
        <a:cs typeface=""/>
      </a:majorFont>
      <a:minorFont>
        <a:latin typeface="Arial" panose="020B06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7_Office Theme">
  <a:themeElements>
    <a:clrScheme name="NCRM">
      <a:dk1>
        <a:srgbClr val="545860"/>
      </a:dk1>
      <a:lt1>
        <a:srgbClr val="ffffff"/>
      </a:lt1>
      <a:dk2>
        <a:srgbClr val="545860"/>
      </a:dk2>
      <a:lt2>
        <a:srgbClr val="e7e6e6"/>
      </a:lt2>
      <a:accent1>
        <a:srgbClr val="5bc3f5"/>
      </a:accent1>
      <a:accent2>
        <a:srgbClr val="3a5cb7"/>
      </a:accent2>
      <a:accent3>
        <a:srgbClr val="ffb653"/>
      </a:accent3>
      <a:accent4>
        <a:srgbClr val="e56b59"/>
      </a:accent4>
      <a:accent5>
        <a:srgbClr val="545860"/>
      </a:accent5>
      <a:accent6>
        <a:srgbClr val="e7e6e6"/>
      </a:accent6>
      <a:hlink>
        <a:srgbClr val="3a5cb7"/>
      </a:hlink>
      <a:folHlink>
        <a:srgbClr val="e56b59"/>
      </a:folHlink>
    </a:clrScheme>
    <a:fontScheme name="Arial">
      <a:majorFont>
        <a:latin typeface="Arial" panose="020B0604020202020204" pitchFamily="0" charset="1"/>
        <a:ea typeface=""/>
        <a:cs typeface=""/>
      </a:majorFont>
      <a:minorFont>
        <a:latin typeface="Arial" panose="020B06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LibreOffice/25.8.5.2$Windows_X86_64 LibreOffice_project/9c8b85f387cc00a89945a79c9e6239f32e450ac2</Application>
  <AppVersion>15.0000</AppVersion>
  <Words>82</Words>
  <Paragraphs>11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2024-02-08T09:27:17Z</dcterms:created>
  <dc:creator>Nick Bearman</dc:creator>
  <dc:description/>
  <dc:language>en-GB</dc:language>
  <cp:lastModifiedBy/>
  <dcterms:modified xsi:type="dcterms:W3CDTF">2026-04-28T14:01:29Z</dcterms:modified>
  <cp:revision>5</cp:revision>
  <dc:subject/>
  <dc:title>comprehensive training in research methods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</vt:i4>
  </property>
</Properties>
</file>